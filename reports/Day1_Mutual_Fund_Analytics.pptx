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DAY 1 PROJECT BRIEFING</a:t>
            </a:r>
          </a:p>
          <a:p>
            <a:pPr>
              <a:spcBef>
                <a:spcPts val="1000"/>
              </a:spcBef>
              <a:spcAft>
                <a:spcPts val="1500"/>
              </a:spcAft>
              <a:defRPr sz="3600" b="1">
                <a:solidFill>
                  <a:srgbClr val="F8FAFC"/>
                </a:solidFill>
              </a:defRPr>
            </a:pPr>
            <a:r>
              <a:t>Indian Mutual Fund Analytics</a:t>
            </a:r>
            <a:br/>
            <a:r>
              <a:t>&amp; Live Ingestion Engine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Comprehensive Data Pipeline, Multi-Dataset Ingestion, AMFI Code Referential Integrity &amp; mfapi.in Live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4B8A6"/>
                </a:solidFill>
              </a:defRPr>
            </a:pPr>
            <a:r>
              <a:t>Author: Bijoy Paul  |  Repository: github.com/Bijoy-paul-01/mutual-fund-analytics  |  Commit: Day 1: Data ingestion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MUTUAL FUND QUANTITATIVE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 Folder Architecture &amp; Git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Directory Structure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</a:defRPr>
            </a:pPr>
            <a:r>
              <a:t>Modular standard for financial engineering: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data/raw/: Immutable CSVs &amp; API responses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data/processed/: Cleansed &amp; transformed data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notebooks/: Interactive Jupyter notebooks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sql/: DDL schema definitions (schema.sql)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dashboard/ &amp; reports/: Visuals and quality audits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Version Control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</a:defRPr>
            </a:pPr>
            <a:r>
              <a:t>GitHub repository established: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Repository: Bijoy-paul-01/mutual-fund-analytics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Branch: main (configured with remote origin)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Commit: 'Day 1: Data ingestion complete'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Gitkeep tracking for scaffolded directories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Comprehensive .gitignore for Python/Jupyter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Dependencies</a:t>
            </a:r>
          </a:p>
          <a:p>
            <a:pPr>
              <a:spcAft>
                <a:spcPts val="1400"/>
              </a:spcAft>
              <a:defRPr sz="1200">
                <a:solidFill>
                  <a:srgbClr val="94A3B8"/>
                </a:solidFill>
              </a:defRPr>
            </a:pPr>
            <a:r>
              <a:t>requirements.txt installed &amp; pinned: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pandas &amp; numpy: High-performance dataframes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matplotlib &amp; seaborn: Statistical visual plotting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plotly: Dynamic interactive financial charts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sqlalchemy: Relational persistence layer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requests: High-resilience REST API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MUTUAL FUND QUANTITATIVE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Comprehensive Ingestion of 10 Datasets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560320"/>
                <a:gridCol w="1645920"/>
                <a:gridCol w="2377440"/>
                <a:gridCol w="3474720"/>
              </a:tblGrid>
              <a:tr h="42394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Dataset Name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Primary Grain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Domain Context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fund_master.csv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40 × 15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amfi_code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Scheme metadata, TER, exit load, SEBI classification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nav_history.csv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46,000 ×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amfi_code + 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Daily continuous NAV series (1,150 days/fund)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aum_by_fund_house.csv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90 × 5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date + fund_house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Quarterly AUM trends across top 10 AMCs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monthly_sip_inflows.csv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48 × 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Industry SIP inflows, active folios &amp; AUM scale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category_inflows.csv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144 × 3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month + category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Segmented monthly capital net inflows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industry_folio_count.csv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21 × 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Asset-class folio growth (Equity, Debt, Hybrid)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scheme_performance.csv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40 × 19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amfi_code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Alpha, Beta, Sharpe, Sortino, Max Drawdown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investor_transactions.csv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32,778 × 13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investor_id + 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Retail/HNI ticket sizes, tiers, payment, KYC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portfolio_holdings.csv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322 × 8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amfi_code + symbol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Stock level allocations &amp; sector concentration</a:t>
                      </a:r>
                    </a:p>
                  </a:txBody>
                  <a:tcPr>
                    <a:solidFill>
                      <a:srgbClr val="172554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benchmark_indices.csv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8BDF8"/>
                          </a:solidFill>
                        </a:defRPr>
                      </a:pPr>
                      <a:r>
                        <a:t>8,050 ×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date + index_name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Closing levels for NIFTY50, Midcap150, etc.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MUTUAL FUND QUANTITATIVE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Fund Master Architecture &amp; AMFI Scheme Code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B8A6"/>
                </a:solidFill>
              </a:defRPr>
            </a:pPr>
            <a:r>
              <a:t>10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Top Fund Houses (AMCs)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SBI, HDFC, ICICI, Nippon, Kotak, Axis...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B8A6"/>
                </a:solidFill>
              </a:defRPr>
            </a:pPr>
            <a:r>
              <a:t>2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Broad Asset Classes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Equity (34 schemes) &amp; Debt (6 schemes)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B8A6"/>
                </a:solidFill>
              </a:defRPr>
            </a:pPr>
            <a:r>
              <a:t>12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SEBI Sub-Categories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Large Cap, Mid Cap, Small Cap, Liquid, Gilt...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3736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B8A6"/>
                </a:solidFill>
              </a:defRPr>
            </a:pPr>
            <a:r>
              <a:t>5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Risk Grade Levels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Low to Very High risk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AMFI Scheme Code Architecture &amp; Direct vs. Regular Plan Spread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 6-Digit Unique Identifier: Every scheme is assigned a unique AMFI numeric code acting as the immutable relational primary key.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 Twin Plan Structure: Identical underlying portfolios operate with two distinct scheme codes: Regular Plan (broker/distributor channel) and Direct Plan (AMC direct).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 Expense Ratio Spread (TER Disparity): In our dataset, Regular Plans average 1.35% TER vs. Direct Plans at 0.78% TER — creating a 0.57% (57 bps) annual commission delta.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 SEBI Standard Codes: Full traceability to SEBI category definitions (EC01 for Large Cap, EC02 for Mid Cap, EC03 for Small Cap, DC01 for Liquid).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MUTUAL FUND QUANTITATIVE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Real-Time NAV Integration Engine (mfapi.in API)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live_nav_fetch.py Client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Target API: https://api.mfapi.in/mf/&lt;amfi_code&gt;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Primary Scheme: 125497 (HDFC Top 100 Direct / Direct Equity)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Key Schemes: SBI Bluechip, ICICI Bluechip, Nippon Large Cap, Axis Bluechip, Kotak Bluechip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Features: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Robust HTTP request handling with timeouts &amp; retry logic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Parsing nested JSON metadata &amp; daily NAV timeseries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Standardizing date format to YYYY-MM-DD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Outputting individual raw CSVs + combined summary 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0" y="1645920"/>
          <a:ext cx="6309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920240"/>
                <a:gridCol w="1097280"/>
                <a:gridCol w="1188720"/>
                <a:gridCol w="1097280"/>
              </a:tblGrid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Target Scheme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Live Date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Latest NAV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Total Days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125497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HDFC Top 100 Direct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2026-10-12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ACC15"/>
                          </a:solidFill>
                        </a:defRPr>
                      </a:pPr>
                      <a:r>
                        <a:t>₹ 206.53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3,183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119551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SBI Bluechip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2026-10-12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ACC15"/>
                          </a:solidFill>
                        </a:defRPr>
                      </a:pPr>
                      <a:r>
                        <a:t>₹ 106.85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3,327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120503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ICICI Bluechip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2026-10-12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ACC15"/>
                          </a:solidFill>
                        </a:defRPr>
                      </a:pPr>
                      <a:r>
                        <a:t>₹ 105.09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3,399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118632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Nippon Large Cap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2026-10-12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ACC15"/>
                          </a:solidFill>
                        </a:defRPr>
                      </a:pPr>
                      <a:r>
                        <a:t>₹ 94.57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3,390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119092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Axis Bluechip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2026-10-12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ACC15"/>
                          </a:solidFill>
                        </a:defRPr>
                      </a:pPr>
                      <a:r>
                        <a:t>₹ 6,336.04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3,656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120841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Kotak Bluechip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2026-10-12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ACC15"/>
                          </a:solidFill>
                        </a:defRPr>
                      </a:pPr>
                      <a:r>
                        <a:t>₹ 240.19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3,393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MUTUAL FUND QUANTITATIVE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 Quality Audit &amp; Anomaly Detection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ACC15"/>
                </a:solidFill>
              </a:defRPr>
            </a:pPr>
            <a:r>
              <a:t>1. Missing YoY Growth in SIP Inflows  —  Context: 12 missing values in 'monthly_sip_inflows'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Months 2022-01 through 2022-12 show NaN for yoy_growth_pct.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Root Cause: The dataset begins in Jan 2022; calculating 1-year YoY percentage requires 2021 base-year data.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Action: Impute programmatically once rolling 12-month lag is established.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Negative Drawdowns in Performance  —  Context: 40 schemes with negative max_drawdown_pct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Values range from -2.23% (low-risk Gilt) to -33.5% (high-beta equity).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Root Cause: Drawdowns represent peak-to-trough drops; mathematical sign is natively negative.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Action: Preserve negative sign for risk metrics or use abs() for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3. KYC Verification Status in Transactions  —  Context: 2,632 transactions marked 'Pending'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30,146 verified transactions (91.97%) vs. 2,632 pending transactions (8.03%).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Root Cause: Realistic simulation of investor onboarding lag.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Action: Separate confirmed settled AUM from provisional transactions.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MUTUAL FUND QUANTITATIVE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AMFI Scheme Code Referential Integrity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✔  REFERENTIAL INTEGRITY: 100% VALIDATED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Every single AMFI scheme code defined in fund_master (40/40) exists in nav_history with zero orphan records and zero omissions.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328416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9626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t>40 / 40 Schemes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Complete Alignment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All 40 master scheme codes have complete continuous trading histories in nav_history.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83280"/>
            <a:ext cx="3328416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566160"/>
            <a:ext cx="29626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1,150 Records / Scheme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Uniform Trading Depth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Exactly 1,150 business days per scheme from 2022-01-03 to 2026-05-29 (46,000 total rows).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383280"/>
            <a:ext cx="3328416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566160"/>
            <a:ext cx="296265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ACC15"/>
                </a:solidFill>
              </a:defRPr>
            </a:pPr>
            <a:r>
              <a:t>0 Orphan Records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Clean Foreign Keys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Zero spurious AMFI codes in nav_history or transaction tables; 100% relational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MUTUAL FUND QUANTITATIVE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Day 1 Summary &amp; Quantitative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Day 1 Deliverables Completed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data_ingestion.py: Automated loader, profiler &amp; audit reporter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live_nav_fetch.py: Live REST client querying mfapi.in API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requirements.txt: Dependencies pinned &amp; verified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sql/schema.sql: 10 relational DDL tables defined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reports/data_quality_summary.md: Formal markdown audit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notebooks/01_data_ingestion_and_exploration.ipynb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✔  Git Commit &amp; Push: 'Day 1: Data ingestion complete' on origin/main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Upcoming Analytics Roadmap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➔  Feature Engineering: Calculate rolling Sharpe, Sortino, Treynor &amp; Jensen's Alpha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➔  SIP Performance Modeling: Simulate recurring investments across market regimes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➔  Factor Attribution: Multi-factor regression vs. NIFTY50 &amp; BSE SmallCap indices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➔  SQL Analytics: Write complex analytical queries for manager track-records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➔  Interactive Dashboard: Plotly / Streamlit frontend for fund comparison &amp; screening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